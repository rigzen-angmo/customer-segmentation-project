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9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9144000" cy="2646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4D2DE"/>
                </a:solidFill>
                <a:latin typeface="Aptos"/>
              </a:defRPr>
            </a:pPr>
            <a:r>
              <a:rPr dirty="0"/>
              <a:t>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332720" cy="1325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CUSTOMER</a:t>
            </a:r>
          </a:p>
          <a:p>
            <a:pPr>
              <a:spcAft>
                <a:spcPts val="5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96012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DCE6F0"/>
                </a:solidFill>
                <a:latin typeface="Aptos"/>
              </a:defRPr>
            </a:pPr>
            <a:r>
              <a:t>Shopping behaviour, spending patterns and customer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585349"/>
            <a:ext cx="9144000" cy="746871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Prepared by: </a:t>
            </a:r>
            <a:r>
              <a:rPr lang="en-US" dirty="0"/>
              <a:t>Rigzen Angmo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Team ID: PTID-CDA-SEP-26-11200-A - CDA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Project ID: CDACL-002: Customer Segmentation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7D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137160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344168"/>
            <a:ext cx="315467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73352"/>
            <a:ext cx="3154679" cy="8686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3,900 shopping records with customer, product and purchase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137160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344168"/>
            <a:ext cx="315467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2"/>
            <a:ext cx="3154679" cy="8686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dirty="0"/>
              <a:t>SQL for checks and analysis; Orange Data Mining for K-Means.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47472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73152" cy="137160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344168"/>
            <a:ext cx="315467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673352"/>
            <a:ext cx="3154679" cy="8686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Understand shopping patterns and suggest useful marketing 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63240"/>
            <a:ext cx="1060704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F3956"/>
                </a:solidFill>
                <a:latin typeface="Aptos"/>
              </a:defRPr>
            </a:pPr>
            <a:r>
              <a:t>Three main project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10241280" cy="20116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D343C"/>
                </a:solidFill>
                <a:latin typeface="Aptos"/>
              </a:defRPr>
            </a:pPr>
            <a:r>
              <a:t>•  Which product categories may benefit from discounts, and why?</a:t>
            </a:r>
          </a:p>
          <a:p>
            <a:pPr>
              <a:spcAft>
                <a:spcPts val="500"/>
              </a:spcAft>
              <a:defRPr sz="1800" b="0">
                <a:solidFill>
                  <a:srgbClr val="2D343C"/>
                </a:solidFill>
                <a:latin typeface="Aptos"/>
              </a:defRPr>
            </a:pPr>
            <a:r>
              <a:t>•  How does card spending differ by age, season and location?</a:t>
            </a:r>
          </a:p>
          <a:p>
            <a:pPr>
              <a:spcAft>
                <a:spcPts val="500"/>
              </a:spcAft>
              <a:defRPr sz="1800" b="0">
                <a:solidFill>
                  <a:srgbClr val="2D343C"/>
                </a:solidFill>
                <a:latin typeface="Aptos"/>
              </a:defRPr>
            </a:pPr>
            <a:r>
              <a:t>•  Can customers be grouped into useful segments for targeted marketing?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Dataset and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F3956"/>
                </a:solidFill>
                <a:latin typeface="Aptos"/>
              </a:defRPr>
            </a:pPr>
            <a:r>
              <a:t>Fields 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212080" cy="4114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dirty="0"/>
              <a:t>•  Customer: </a:t>
            </a:r>
            <a:r>
              <a:rPr dirty="0" err="1"/>
              <a:t>CustomerID</a:t>
            </a:r>
            <a:r>
              <a:rPr dirty="0"/>
              <a:t>, Age, Gender</a:t>
            </a:r>
          </a:p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dirty="0"/>
              <a:t>•  Product: </a:t>
            </a:r>
            <a:r>
              <a:rPr dirty="0" err="1"/>
              <a:t>ItemPurchased</a:t>
            </a:r>
            <a:r>
              <a:rPr dirty="0"/>
              <a:t>, Category, Size, Color</a:t>
            </a:r>
          </a:p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dirty="0"/>
              <a:t>•  Purchase: </a:t>
            </a:r>
            <a:r>
              <a:rPr dirty="0" err="1"/>
              <a:t>PurchaseAmountUSD</a:t>
            </a:r>
            <a:r>
              <a:rPr dirty="0"/>
              <a:t>, </a:t>
            </a:r>
            <a:r>
              <a:rPr dirty="0" err="1"/>
              <a:t>PreviousPurchases</a:t>
            </a:r>
            <a:endParaRPr dirty="0"/>
          </a:p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dirty="0"/>
              <a:t>•  Shopping: Season, Location, </a:t>
            </a:r>
            <a:r>
              <a:rPr dirty="0" err="1"/>
              <a:t>PaymentMethod</a:t>
            </a:r>
            <a:endParaRPr dirty="0"/>
          </a:p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dirty="0"/>
              <a:t>•  Other: </a:t>
            </a:r>
            <a:r>
              <a:rPr dirty="0" err="1"/>
              <a:t>ReviewRating</a:t>
            </a:r>
            <a:r>
              <a:rPr dirty="0"/>
              <a:t>, </a:t>
            </a:r>
            <a:r>
              <a:rPr dirty="0" err="1"/>
              <a:t>SubscriptionStatus</a:t>
            </a:r>
            <a:r>
              <a:rPr dirty="0"/>
              <a:t>, discounts, shipping and frequency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0749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73152" cy="114300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35607"/>
            <a:ext cx="475488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64792"/>
            <a:ext cx="4754880" cy="43396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lang="en-IN" sz="1200" dirty="0">
                <a:solidFill>
                  <a:srgbClr val="2D343C"/>
                </a:solidFill>
                <a:latin typeface="Aptos"/>
              </a:rPr>
              <a:t>Checked for missing values, duplicates, and incorrect values. No issues were found. Identified category mismatches.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697480"/>
            <a:ext cx="50749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697480"/>
            <a:ext cx="73152" cy="114300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807208"/>
            <a:ext cx="475488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Category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36392"/>
            <a:ext cx="4754880" cy="640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Created CleanedCategory to group items into Clothing, Accessories, Electronics, Sports and Home Decor.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69080"/>
            <a:ext cx="50749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4069080"/>
            <a:ext cx="73152" cy="1143000"/>
          </a:xfrm>
          <a:prstGeom prst="rect">
            <a:avLst/>
          </a:prstGeom>
          <a:solidFill>
            <a:srgbClr val="DF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178808"/>
            <a:ext cx="475488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Age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07992"/>
            <a:ext cx="4754880" cy="640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Created five groups: 18–25, 26–35, 36–45, 46–55 and 56–64.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Method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4712" y="1417320"/>
            <a:ext cx="566928" cy="566928"/>
          </a:xfrm>
          <a:prstGeom prst="ellipse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545336"/>
            <a:ext cx="566928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178308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1.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1874519" cy="10515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SQL data checks</a:t>
            </a:r>
          </a:p>
        </p:txBody>
      </p:sp>
      <p:sp>
        <p:nvSpPr>
          <p:cNvPr id="11" name="Oval 10"/>
          <p:cNvSpPr/>
          <p:nvPr/>
        </p:nvSpPr>
        <p:spPr>
          <a:xfrm>
            <a:off x="3456432" y="1417320"/>
            <a:ext cx="566928" cy="566928"/>
          </a:xfrm>
          <a:prstGeom prst="ellipse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1545336"/>
            <a:ext cx="566928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240280"/>
            <a:ext cx="178308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2. Explore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697480"/>
            <a:ext cx="1874519" cy="10515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Counts, totals and averages</a:t>
            </a:r>
          </a:p>
        </p:txBody>
      </p:sp>
      <p:sp>
        <p:nvSpPr>
          <p:cNvPr id="15" name="Oval 14"/>
          <p:cNvSpPr/>
          <p:nvPr/>
        </p:nvSpPr>
        <p:spPr>
          <a:xfrm>
            <a:off x="5788152" y="1417320"/>
            <a:ext cx="566928" cy="566928"/>
          </a:xfrm>
          <a:prstGeom prst="ellipse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8152" y="1545336"/>
            <a:ext cx="566928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240280"/>
            <a:ext cx="178308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3. 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697480"/>
            <a:ext cx="1874519" cy="10515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Discount, payment and spending patterns</a:t>
            </a:r>
          </a:p>
        </p:txBody>
      </p:sp>
      <p:sp>
        <p:nvSpPr>
          <p:cNvPr id="19" name="Oval 18"/>
          <p:cNvSpPr/>
          <p:nvPr/>
        </p:nvSpPr>
        <p:spPr>
          <a:xfrm>
            <a:off x="8119871" y="1417320"/>
            <a:ext cx="566928" cy="566928"/>
          </a:xfrm>
          <a:prstGeom prst="ellipse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1" y="1545336"/>
            <a:ext cx="566928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240280"/>
            <a:ext cx="178308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4. Segment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697480"/>
            <a:ext cx="1874519" cy="10515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K-Means and silhouette scores</a:t>
            </a:r>
          </a:p>
        </p:txBody>
      </p:sp>
      <p:sp>
        <p:nvSpPr>
          <p:cNvPr id="23" name="Oval 22"/>
          <p:cNvSpPr/>
          <p:nvPr/>
        </p:nvSpPr>
        <p:spPr>
          <a:xfrm>
            <a:off x="10451592" y="1417320"/>
            <a:ext cx="566928" cy="566928"/>
          </a:xfrm>
          <a:prstGeom prst="ellipse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51592" y="1545336"/>
            <a:ext cx="566928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240280"/>
            <a:ext cx="178308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5. Recommend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697480"/>
            <a:ext cx="1874519" cy="10515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Marketing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" y="4311396"/>
            <a:ext cx="10241280" cy="10058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7824" y="4311396"/>
            <a:ext cx="73152" cy="1005840"/>
          </a:xfrm>
          <a:prstGeom prst="rect">
            <a:avLst/>
          </a:prstGeom>
          <a:solidFill>
            <a:srgbClr val="DF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681728"/>
            <a:ext cx="992124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10912"/>
            <a:ext cx="9921240" cy="24929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dirty="0"/>
              <a:t>The results show patterns in this dataset. They do not prove that discounts, age, season or location caused </a:t>
            </a:r>
            <a:r>
              <a:rPr lang="en-IN" sz="1200" dirty="0">
                <a:solidFill>
                  <a:srgbClr val="2D343C"/>
                </a:solidFill>
                <a:latin typeface="Aptos"/>
              </a:rPr>
              <a:t>those patterns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Most-Purchased Categories and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006969"/>
              </p:ext>
            </p:extLst>
          </p:nvPr>
        </p:nvGraphicFramePr>
        <p:xfrm>
          <a:off x="594360" y="1234440"/>
          <a:ext cx="5943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Clothing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Shoes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552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Accessories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Watch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Sports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Football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488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Home Decor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Curtains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479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Clothing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T-Shirt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479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Accessories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Bag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47</a:t>
                      </a: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Laptop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Phone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460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03720" y="1417320"/>
            <a:ext cx="443484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03720" y="1417320"/>
            <a:ext cx="73152" cy="123444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1527048"/>
            <a:ext cx="41148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Top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856232"/>
            <a:ext cx="4114800" cy="7315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Clothing: 1,031 records</a:t>
            </a:r>
          </a:p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Shoes (552) + T-Shirt (479)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880360"/>
            <a:ext cx="443484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03720" y="2880360"/>
            <a:ext cx="73152" cy="123444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2990088"/>
            <a:ext cx="41148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Top individual 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319272"/>
            <a:ext cx="4114800" cy="7315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Shoes: 552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343400"/>
            <a:ext cx="443484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03720" y="4343400"/>
            <a:ext cx="73152" cy="1234440"/>
          </a:xfrm>
          <a:prstGeom prst="rect">
            <a:avLst/>
          </a:prstGeom>
          <a:solidFill>
            <a:srgbClr val="DF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4453128"/>
            <a:ext cx="4114800" cy="29546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rPr lang="en-US" dirty="0"/>
              <a:t>Recommendation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7086600" y="4782312"/>
            <a:ext cx="4114800" cy="618631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dirty="0"/>
              <a:t>Shoes</a:t>
            </a:r>
            <a:r>
              <a:rPr lang="en-US" dirty="0"/>
              <a:t> and Watch</a:t>
            </a:r>
            <a:r>
              <a:rPr dirty="0"/>
              <a:t> were </a:t>
            </a:r>
            <a:r>
              <a:rPr lang="en-US" dirty="0"/>
              <a:t>the most selling products. </a:t>
            </a:r>
            <a:r>
              <a:rPr lang="en-IN" sz="1200" dirty="0">
                <a:solidFill>
                  <a:srgbClr val="2D343C"/>
                </a:solidFill>
                <a:latin typeface="Aptos"/>
              </a:rPr>
              <a:t>Maintain sufficient stock of popular items and create clothing bundles to encourage more purchases.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Discount Use by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7D"/>
                </a:solidFill>
                <a:latin typeface="Aptos"/>
              </a:defRPr>
            </a:pPr>
            <a:r>
              <a:t>DISCOUNTS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7314"/>
              </p:ext>
            </p:extLst>
          </p:nvPr>
        </p:nvGraphicFramePr>
        <p:xfrm>
          <a:off x="685800" y="128016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Discount: Yes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Discount: No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Clothing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520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511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Electronics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467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459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Accessories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461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515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Sports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229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259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Home Decor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220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259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0" y="1417320"/>
            <a:ext cx="466344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0" y="1417320"/>
            <a:ext cx="73152" cy="114300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527048"/>
            <a:ext cx="43434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Most discounted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856232"/>
            <a:ext cx="4343400" cy="24929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lang="en-US" dirty="0"/>
              <a:t>Clothing</a:t>
            </a:r>
            <a:r>
              <a:rPr dirty="0"/>
              <a:t> had </a:t>
            </a:r>
            <a:r>
              <a:rPr lang="en-US" dirty="0"/>
              <a:t>520</a:t>
            </a:r>
            <a:r>
              <a:rPr dirty="0"/>
              <a:t> records with a discount.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788920"/>
            <a:ext cx="466344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2788920"/>
            <a:ext cx="73152" cy="114300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2898648"/>
            <a:ext cx="43434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227832"/>
            <a:ext cx="4343400" cy="43396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lang="en-US" dirty="0"/>
              <a:t>Except C</a:t>
            </a:r>
            <a:r>
              <a:rPr dirty="0"/>
              <a:t>lothing, </a:t>
            </a:r>
            <a:r>
              <a:rPr lang="en-US" dirty="0"/>
              <a:t>other Category </a:t>
            </a:r>
            <a:r>
              <a:rPr dirty="0"/>
              <a:t>had more records without discounts.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160520"/>
            <a:ext cx="466344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0" y="4160520"/>
            <a:ext cx="73152" cy="1143000"/>
          </a:xfrm>
          <a:prstGeom prst="rect">
            <a:avLst/>
          </a:prstGeom>
          <a:solidFill>
            <a:srgbClr val="DF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4270248"/>
            <a:ext cx="43434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599431"/>
            <a:ext cx="4343400" cy="640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Counts alone do not show whether discounts increased profit or spending.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Average Purchase: Discount vs No Discount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7D"/>
                </a:solidFill>
                <a:latin typeface="Aptos"/>
              </a:defRPr>
            </a:pPr>
            <a:r>
              <a:t>DISCOUNTS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74147"/>
              </p:ext>
            </p:extLst>
          </p:nvPr>
        </p:nvGraphicFramePr>
        <p:xfrm>
          <a:off x="594360" y="1234440"/>
          <a:ext cx="74066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With discount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Without discount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Difference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Home Decor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258.09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$25</a:t>
                      </a:r>
                      <a:r>
                        <a:rPr lang="en-US" dirty="0"/>
                        <a:t>2.23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+</a:t>
                      </a:r>
                      <a:r>
                        <a:rPr dirty="0"/>
                        <a:t>$5.</a:t>
                      </a:r>
                      <a:r>
                        <a:rPr lang="en-US" dirty="0"/>
                        <a:t>86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Electronics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249.40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246.98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+$</a:t>
                      </a:r>
                      <a:r>
                        <a:rPr lang="en-US" dirty="0"/>
                        <a:t>2.42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Clothing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258.77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257.36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+$</a:t>
                      </a:r>
                      <a:r>
                        <a:rPr lang="en-US" dirty="0"/>
                        <a:t>1.41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Accessories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250.76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256.19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-</a:t>
                      </a:r>
                      <a:r>
                        <a:rPr dirty="0"/>
                        <a:t>$</a:t>
                      </a:r>
                      <a:r>
                        <a:rPr lang="en-US" dirty="0"/>
                        <a:t>5.43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Sports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$264.37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271.38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-$7.01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417320"/>
            <a:ext cx="32461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0" y="1417320"/>
            <a:ext cx="73152" cy="114300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527048"/>
            <a:ext cx="292607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Largest positive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56232"/>
            <a:ext cx="2926079" cy="640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Home Decor: +$5.86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88920"/>
            <a:ext cx="324612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2788920"/>
            <a:ext cx="73152" cy="114300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898648"/>
            <a:ext cx="292607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Other candidates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27832"/>
            <a:ext cx="2926079" cy="640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Electronics: +$2.42</a:t>
            </a:r>
          </a:p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Clothing: +$1.41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251960"/>
            <a:ext cx="3017520" cy="11430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Test small, targeted offers. These are purchase amounts, not profit, and do not prove a discount caused the difference.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Card Spending by Age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7D"/>
                </a:solidFill>
                <a:latin typeface="Aptos"/>
              </a:defRPr>
            </a:pPr>
            <a:r>
              <a:t>CARD SPENDING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card spend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18–25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$70,367.26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$261.59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26–35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321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$81,821.46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$254.90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36–45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$88,522.67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$255.11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46–55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328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$84,880.56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$258.78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56–64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$80,215.00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$259.60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463040"/>
            <a:ext cx="32004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73152" cy="123444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572768"/>
            <a:ext cx="28803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Highest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01952"/>
            <a:ext cx="2880360" cy="7315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Age 36–45</a:t>
            </a:r>
          </a:p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$88,522.67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926080"/>
            <a:ext cx="32004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2926080"/>
            <a:ext cx="73152" cy="123444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3035808"/>
            <a:ext cx="28803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Highest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64992"/>
            <a:ext cx="2880360" cy="7315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Age 18–25</a:t>
            </a:r>
          </a:p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$261.59 per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526280"/>
            <a:ext cx="3017520" cy="9144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7D"/>
                </a:solidFill>
                <a:latin typeface="Aptos"/>
              </a:defRPr>
            </a:pPr>
            <a:r>
              <a:t>Card payments include Credit Card and Debit Card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Card Spending by Season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7D"/>
                </a:solidFill>
                <a:latin typeface="Aptos"/>
              </a:defRPr>
            </a:pPr>
            <a:r>
              <a:t>CARD SPENDING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80160"/>
          <a:ext cx="7040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Season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card spend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Spring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416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$105,748.28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$254.20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Summer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374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$96,988.84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$259.33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Fall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$99,418.85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$255.58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Winter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395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$103,650.98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$262.41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17320"/>
            <a:ext cx="342900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55279" y="1417320"/>
            <a:ext cx="73152" cy="109728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59" y="1527048"/>
            <a:ext cx="3108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Highest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1856232"/>
            <a:ext cx="3108960" cy="59435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Spring: $105,748.28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743200"/>
            <a:ext cx="342900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79" y="2743200"/>
            <a:ext cx="73152" cy="109728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59" y="2852928"/>
            <a:ext cx="3108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Highest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182112"/>
            <a:ext cx="3108960" cy="59435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Winter: $262.41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069080"/>
            <a:ext cx="342900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79" y="4069080"/>
            <a:ext cx="73152" cy="1097280"/>
          </a:xfrm>
          <a:prstGeom prst="rect">
            <a:avLst/>
          </a:prstGeom>
          <a:solidFill>
            <a:srgbClr val="DF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59" y="4178808"/>
            <a:ext cx="31089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Lowest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4507992"/>
            <a:ext cx="3108960" cy="59435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Summer: $96,988.84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6949440" cy="867417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7D"/>
                </a:solidFill>
                <a:latin typeface="Aptos"/>
              </a:defRPr>
            </a:pPr>
            <a:r>
              <a:rPr lang="en-IN" sz="1200" dirty="0">
                <a:solidFill>
                  <a:srgbClr val="69737D"/>
                </a:solidFill>
                <a:latin typeface="Aptos"/>
              </a:rPr>
              <a:t>Seasonal trends can help plan marketing campaigns. For example, discounts on T-shirts can be offered during spring and summer. Future sales should be analysed to check whether these campaigns are successful.</a:t>
            </a:r>
          </a:p>
          <a:p>
            <a:pPr>
              <a:spcAft>
                <a:spcPts val="500"/>
              </a:spcAft>
              <a:defRPr sz="1200" b="0">
                <a:solidFill>
                  <a:srgbClr val="69737D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Card Spending by 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7D"/>
                </a:solidFill>
                <a:latin typeface="Aptos"/>
              </a:defRPr>
            </a:pPr>
            <a:r>
              <a:t>CARD SPENDING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80160"/>
          <a:ext cx="7132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card spend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New York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$90,702.56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$261.39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Los Angeles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$83,297.97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$251.66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Chicago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$81,730.80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$259.46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Houston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$78,587.57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$261.09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Miami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$71,488.05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$255.31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92440" y="1463040"/>
            <a:ext cx="3291840" cy="118872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92440" y="1463040"/>
            <a:ext cx="73152" cy="118872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19" y="1572768"/>
            <a:ext cx="29718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Highest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1901952"/>
            <a:ext cx="2971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New York: $90,702.56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880360"/>
            <a:ext cx="3291840" cy="118872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2880360"/>
            <a:ext cx="73152" cy="118872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2990088"/>
            <a:ext cx="29718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Lowest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319272"/>
            <a:ext cx="2971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Miami: $71,488.05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434840"/>
            <a:ext cx="3017520" cy="464743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343C"/>
                </a:solidFill>
                <a:latin typeface="Aptos"/>
              </a:defRPr>
            </a:pPr>
            <a:r>
              <a:rPr lang="en-IN" sz="1300" dirty="0">
                <a:solidFill>
                  <a:srgbClr val="2D343C"/>
                </a:solidFill>
                <a:latin typeface="Aptos"/>
              </a:rPr>
              <a:t>Analyse product preferences in each location before creating targeted offers.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89819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rPr lang="en-IN" dirty="0"/>
              <a:t>Average amount by age</a:t>
            </a:r>
          </a:p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7D"/>
                </a:solidFill>
                <a:latin typeface="Aptos"/>
              </a:defRPr>
            </a:pPr>
            <a:r>
              <a:t>ALL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9737D"/>
                </a:solidFill>
                <a:latin typeface="Aptos"/>
              </a:defRPr>
            </a:pPr>
            <a:r>
              <a:t>These results include all payment methods, not only card payments.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965960"/>
          <a:ext cx="5212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36–45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$260.39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860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18–25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$258.10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650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26–35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$253.98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797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56–64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$253.51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732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46–55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$251.67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861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09360" y="1965960"/>
            <a:ext cx="498348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965960"/>
            <a:ext cx="73152" cy="123444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663440" cy="29546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rPr lang="en-US" dirty="0"/>
              <a:t>Highest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92240" y="2404872"/>
            <a:ext cx="4663440" cy="24929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lang="en-US" dirty="0"/>
              <a:t>Age 36-45: $260</a:t>
            </a:r>
            <a:r>
              <a:rPr dirty="0"/>
              <a:t>.</a:t>
            </a:r>
            <a:r>
              <a:rPr lang="en-US" dirty="0"/>
              <a:t>39 across 860 records.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309360" y="3429000"/>
            <a:ext cx="498348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3429000"/>
            <a:ext cx="73152" cy="123444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538728"/>
            <a:ext cx="4663440" cy="29546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rPr lang="en-US" dirty="0"/>
              <a:t>Lowest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492240" y="3867912"/>
            <a:ext cx="4663440" cy="24929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lang="en-US" dirty="0"/>
              <a:t>Age 46-55</a:t>
            </a:r>
            <a:r>
              <a:rPr dirty="0"/>
              <a:t>: </a:t>
            </a:r>
            <a:r>
              <a:rPr lang="en-US" dirty="0"/>
              <a:t>$251.67 across 861 records.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44935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rPr dirty="0"/>
              <a:t>Popular </a:t>
            </a:r>
            <a:r>
              <a:rPr lang="en-US" dirty="0"/>
              <a:t>Category</a:t>
            </a:r>
            <a:r>
              <a:rPr dirty="0"/>
              <a:t> by Season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7D"/>
                </a:solidFill>
                <a:latin typeface="Aptos"/>
              </a:defRPr>
            </a:pPr>
            <a:r>
              <a:rPr dirty="0"/>
              <a:t>SEASONAL ANALYSIS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768523"/>
              </p:ext>
            </p:extLst>
          </p:nvPr>
        </p:nvGraphicFramePr>
        <p:xfrm>
          <a:off x="640080" y="1280160"/>
          <a:ext cx="66751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Season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Popular category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 / value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Spring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Clothing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279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Fall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Clothing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266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Summer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Accessories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249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Winter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Accessories 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253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417320"/>
            <a:ext cx="3749039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417320"/>
            <a:ext cx="73152" cy="123444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19" y="1527048"/>
            <a:ext cx="342899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Popular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1856232"/>
            <a:ext cx="3428999" cy="7315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Fall: Shoes (160)</a:t>
            </a:r>
          </a:p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Spring: T-Shirt (141)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880360"/>
            <a:ext cx="3749039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2880360"/>
            <a:ext cx="73152" cy="123444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2990088"/>
            <a:ext cx="342899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Other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3319272"/>
            <a:ext cx="3428999" cy="7315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Summer: T-Shirt (126)</a:t>
            </a:r>
          </a:p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Winter: Shoes (138)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789920" cy="594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343C"/>
                </a:solidFill>
                <a:latin typeface="Aptos"/>
              </a:defRPr>
            </a:pPr>
            <a:r>
              <a:t>Plan Clothing for Spring/Fall, Accessories in Summer, Shoes in Fall/Winter and T-Shirts in Spring/Summer.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Spending Across Payment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523821"/>
              </p:ext>
            </p:extLst>
          </p:nvPr>
        </p:nvGraphicFramePr>
        <p:xfrm>
          <a:off x="548640" y="1234440"/>
          <a:ext cx="78181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4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4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Payment method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amount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 amount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Credit Card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802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$209,671.36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$261.44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UPI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792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IN" dirty="0"/>
                        <a:t>198,141.62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IN" dirty="0"/>
                        <a:t>250.18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 err="1"/>
                        <a:t>Paypal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791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$198,283.07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$250.67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Debit Card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772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196,135.59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254.06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743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$194,147.16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$261.30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41080" y="1417320"/>
            <a:ext cx="2743200" cy="118872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41080" y="1417320"/>
            <a:ext cx="73152" cy="118872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59" y="1527048"/>
            <a:ext cx="24231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Most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59" y="1856232"/>
            <a:ext cx="242316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Credit Card: 802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2834640"/>
            <a:ext cx="2743200" cy="118872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41080" y="2834640"/>
            <a:ext cx="73152" cy="118872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59" y="2944368"/>
            <a:ext cx="24231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Highest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3273552"/>
            <a:ext cx="242316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Credit Card: $209,671.36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4251960"/>
            <a:ext cx="2743200" cy="118872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41080" y="4251960"/>
            <a:ext cx="73152" cy="1188720"/>
          </a:xfrm>
          <a:prstGeom prst="rect">
            <a:avLst/>
          </a:prstGeom>
          <a:solidFill>
            <a:srgbClr val="DF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59" y="4361688"/>
            <a:ext cx="24231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Highest average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4690872"/>
            <a:ext cx="242316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Credit Card: $261.44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Other SQL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44214"/>
              </p:ext>
            </p:extLst>
          </p:nvPr>
        </p:nvGraphicFramePr>
        <p:xfrm>
          <a:off x="594360" y="1280160"/>
          <a:ext cx="5715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Analysis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result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Gender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Male 1,963; Female 1,937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Age group records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18-25: 650,   26-35: 797,   36-45: 860, </a:t>
                      </a:r>
                    </a:p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46</a:t>
                      </a:r>
                      <a:r>
                        <a:rPr dirty="0"/>
                        <a:t>–55:</a:t>
                      </a:r>
                      <a:r>
                        <a:rPr lang="en-US" dirty="0"/>
                        <a:t>861,    56-64:</a:t>
                      </a:r>
                      <a:r>
                        <a:rPr dirty="0"/>
                        <a:t> </a:t>
                      </a:r>
                      <a:r>
                        <a:rPr lang="en-US" dirty="0"/>
                        <a:t>732</a:t>
                      </a:r>
                      <a:endParaRPr dirty="0"/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Purchase frequency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Monthly</a:t>
                      </a:r>
                      <a:r>
                        <a:rPr lang="en-US" dirty="0"/>
                        <a:t>; </a:t>
                      </a:r>
                      <a:r>
                        <a:rPr dirty="0"/>
                        <a:t>1,319</a:t>
                      </a:r>
                      <a:endParaRPr lang="en-US" dirty="0"/>
                    </a:p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Weekly</a:t>
                      </a:r>
                      <a:r>
                        <a:rPr lang="en-US" dirty="0"/>
                        <a:t>;</a:t>
                      </a:r>
                      <a:r>
                        <a:rPr dirty="0"/>
                        <a:t> 1,308 </a:t>
                      </a:r>
                      <a:endParaRPr lang="en-US" dirty="0"/>
                    </a:p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Fortnightly</a:t>
                      </a:r>
                      <a:r>
                        <a:rPr lang="en-US" dirty="0"/>
                        <a:t>;</a:t>
                      </a:r>
                      <a:r>
                        <a:rPr dirty="0"/>
                        <a:t> 1,273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Subscription records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Yes</a:t>
                      </a:r>
                      <a:r>
                        <a:rPr lang="en-US" dirty="0"/>
                        <a:t>;</a:t>
                      </a:r>
                      <a:r>
                        <a:rPr dirty="0"/>
                        <a:t> 1,931</a:t>
                      </a:r>
                      <a:endParaRPr lang="en-US" dirty="0"/>
                    </a:p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 </a:t>
                      </a:r>
                      <a:r>
                        <a:rPr dirty="0"/>
                        <a:t>No</a:t>
                      </a:r>
                      <a:r>
                        <a:rPr lang="en-US" dirty="0"/>
                        <a:t>; </a:t>
                      </a:r>
                      <a:r>
                        <a:rPr dirty="0"/>
                        <a:t> 1,969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Subscription amount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Yes</a:t>
                      </a:r>
                      <a:r>
                        <a:rPr lang="en-US" dirty="0"/>
                        <a:t>; </a:t>
                      </a:r>
                      <a:r>
                        <a:rPr dirty="0"/>
                        <a:t> $496,093.11</a:t>
                      </a:r>
                      <a:endParaRPr lang="en-US" dirty="0"/>
                    </a:p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dirty="0"/>
                        <a:t> No</a:t>
                      </a:r>
                      <a:r>
                        <a:rPr lang="en-US" dirty="0"/>
                        <a:t>; </a:t>
                      </a:r>
                      <a:r>
                        <a:rPr dirty="0"/>
                        <a:t> $500,285.69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29400" y="1463040"/>
            <a:ext cx="466344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29400" y="1463040"/>
            <a:ext cx="73152" cy="123444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1572768"/>
            <a:ext cx="43434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Subscription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01952"/>
            <a:ext cx="4343400" cy="433965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dirty="0"/>
              <a:t>Non-subscribed records had slightly higher total purchase amount</a:t>
            </a:r>
            <a:r>
              <a:rPr lang="en-US" dirty="0"/>
              <a:t> than subscribed records.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629400" y="2926080"/>
            <a:ext cx="466344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2926080"/>
            <a:ext cx="73152" cy="123444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3035808"/>
            <a:ext cx="4343400" cy="29546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rPr lang="en-US" dirty="0"/>
              <a:t>Key Observation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812280" y="3364992"/>
            <a:ext cx="4343400" cy="618631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lang="en-US" dirty="0"/>
              <a:t>The number of non-subscribed records was also slightly higher. These results show purchase amounts and record counts, not necessarily unique customers.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K-Means: Model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7D"/>
                </a:solidFill>
                <a:latin typeface="Aptos"/>
              </a:defRPr>
            </a:pPr>
            <a:r>
              <a:t>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6583680" cy="42976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343C"/>
                </a:solidFill>
                <a:latin typeface="Aptos"/>
              </a:defRPr>
            </a:pPr>
            <a:r>
              <a:t>•  Used Orange Data Mining for K-Means clustering.</a:t>
            </a:r>
          </a:p>
          <a:p>
            <a:pPr>
              <a:spcAft>
                <a:spcPts val="500"/>
              </a:spcAft>
              <a:defRPr sz="1600" b="0">
                <a:solidFill>
                  <a:srgbClr val="2D343C"/>
                </a:solidFill>
                <a:latin typeface="Aptos"/>
              </a:defRPr>
            </a:pPr>
            <a:r>
              <a:t>•  First tried Age, PurchaseAmountUSD and PreviousPurchases.</a:t>
            </a:r>
          </a:p>
          <a:p>
            <a:pPr>
              <a:spcAft>
                <a:spcPts val="500"/>
              </a:spcAft>
              <a:defRPr sz="1600" b="0">
                <a:solidFill>
                  <a:srgbClr val="2D343C"/>
                </a:solidFill>
                <a:latin typeface="Aptos"/>
              </a:defRPr>
            </a:pPr>
            <a:r>
              <a:t>•  Also tested adding ReviewRating and compared silhouette scores.</a:t>
            </a:r>
          </a:p>
          <a:p>
            <a:pPr>
              <a:spcAft>
                <a:spcPts val="500"/>
              </a:spcAft>
              <a:defRPr sz="1600" b="0">
                <a:solidFill>
                  <a:srgbClr val="2D343C"/>
                </a:solidFill>
                <a:latin typeface="Aptos"/>
              </a:defRPr>
            </a:pPr>
            <a:r>
              <a:t>•  Final model used Age and PurchaseAmountUSD.</a:t>
            </a:r>
          </a:p>
          <a:p>
            <a:pPr>
              <a:spcAft>
                <a:spcPts val="500"/>
              </a:spcAft>
              <a:defRPr sz="1600" b="0">
                <a:solidFill>
                  <a:srgbClr val="2D343C"/>
                </a:solidFill>
                <a:latin typeface="Aptos"/>
              </a:defRPr>
            </a:pPr>
            <a:r>
              <a:t>•  Four clusters gave a silhouette score of about 0.406, best among tested settings in that experiment.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566160" cy="128016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0" y="1463040"/>
            <a:ext cx="73152" cy="128016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572768"/>
            <a:ext cx="324612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Why standardise?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901952"/>
            <a:ext cx="3246120" cy="77723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Age and purchase amount use different scales. Standardising helps avoid scale dominating the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063240"/>
            <a:ext cx="3566160" cy="128016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0" y="3063240"/>
            <a:ext cx="73152" cy="1280160"/>
          </a:xfrm>
          <a:prstGeom prst="rect">
            <a:avLst/>
          </a:prstGeom>
          <a:solidFill>
            <a:srgbClr val="DFA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3172968"/>
            <a:ext cx="324612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Score meaning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502152"/>
            <a:ext cx="3246120" cy="24929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dirty="0"/>
              <a:t>0.406 suggests some useful grouping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Final Customer Clusters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32004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9737D"/>
                </a:solidFill>
                <a:latin typeface="Aptos"/>
              </a:defRPr>
            </a:pPr>
            <a:r>
              <a:t>SEGMENTATION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80160"/>
          <a:ext cx="66751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Cluster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Younger, lower spending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25.44%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C2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Older, higher spending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1002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25.69%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Older, lower spending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25.15%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C4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Younger, higher spending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925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23.72%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417320"/>
            <a:ext cx="3703320" cy="118872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417320"/>
            <a:ext cx="73152" cy="118872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19" y="1527048"/>
            <a:ext cx="338327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Largest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1856232"/>
            <a:ext cx="3383279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C2: 1,002 records (25.69%)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834640"/>
            <a:ext cx="3703320" cy="118872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2834640"/>
            <a:ext cx="73152" cy="1188720"/>
          </a:xfrm>
          <a:prstGeom prst="rect">
            <a:avLst/>
          </a:prstGeom>
          <a:solidFill>
            <a:srgbClr val="387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2944368"/>
            <a:ext cx="338327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Smallest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3273552"/>
            <a:ext cx="3383279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t>C4: 925 records (23.72%)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10607040" cy="2646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343C"/>
                </a:solidFill>
                <a:latin typeface="Aptos"/>
              </a:defRPr>
            </a:pPr>
            <a:r>
              <a:rPr dirty="0"/>
              <a:t>Labels are relative descriptions based on age and purchase amount.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t>Marketing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Group / area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Suggested action</a:t>
                      </a:r>
                    </a:p>
                  </a:txBody>
                  <a:tcPr anchor="ctr">
                    <a:solidFill>
                      <a:srgbClr val="1F3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C1 — Younger, lower spending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Affordable bundles, entry-level products and small promotions.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C2 — Older, higher spending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Premium options, personalised suggestions and loyalty rewards.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C3 — Older, lower spending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Useful product offers and loyalty messages; test different offers.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C4 — Younger, higher spending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New arrivals, popular products and personalised recommendations.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Product / season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Plan Clothing for Spring/Fall, Accessories in Summer, Shoes in Fall/Winter.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Discounts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Test targeted Home Decor and Electronics discounts; measure results.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789920" cy="44935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F3956"/>
                </a:solidFill>
                <a:latin typeface="Aptos"/>
              </a:defRPr>
            </a:pPr>
            <a:r>
              <a:rPr dirty="0"/>
              <a:t>Conclusion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14400" cy="50292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0292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F3956"/>
                </a:solidFill>
                <a:latin typeface="Aptos"/>
              </a:defRPr>
            </a:pPr>
            <a:r>
              <a:t>Main 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120640" cy="292439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dirty="0"/>
              <a:t>•  </a:t>
            </a:r>
            <a:r>
              <a:rPr lang="en-IN" sz="1500" dirty="0">
                <a:solidFill>
                  <a:srgbClr val="2D343C"/>
                </a:solidFill>
                <a:latin typeface="Aptos"/>
              </a:rPr>
              <a:t>Clothing was the most purchased category, while shoes were the most purchased individual item.</a:t>
            </a:r>
            <a:endParaRPr dirty="0"/>
          </a:p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dirty="0"/>
              <a:t>•  </a:t>
            </a:r>
            <a:r>
              <a:rPr lang="en-IN" sz="1500" dirty="0">
                <a:solidFill>
                  <a:srgbClr val="2D343C"/>
                </a:solidFill>
                <a:latin typeface="Aptos"/>
              </a:rPr>
              <a:t>Purchase patterns varied across age groups, seasons, and locations.</a:t>
            </a:r>
            <a:endParaRPr dirty="0"/>
          </a:p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dirty="0"/>
              <a:t>•  </a:t>
            </a:r>
            <a:r>
              <a:rPr lang="en-IN" sz="1500" dirty="0">
                <a:solidFill>
                  <a:srgbClr val="2D343C"/>
                </a:solidFill>
                <a:latin typeface="Aptos"/>
              </a:rPr>
              <a:t>Discount effectiveness differed by category, so offers should be planned carefully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dirty="0"/>
              <a:t>•  </a:t>
            </a:r>
            <a:r>
              <a:rPr lang="en-IN" sz="1500" dirty="0">
                <a:solidFill>
                  <a:srgbClr val="2D343C"/>
                </a:solidFill>
                <a:latin typeface="Aptos"/>
              </a:rPr>
              <a:t>K-Means clustering identified four customer groups based on age and purchase amount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lang="en-US" dirty="0"/>
              <a:t>•  </a:t>
            </a:r>
            <a:r>
              <a:rPr lang="en-IN" sz="1500" dirty="0">
                <a:solidFill>
                  <a:srgbClr val="2D343C"/>
                </a:solidFill>
                <a:latin typeface="Aptos"/>
              </a:rPr>
              <a:t>Targeted promotions and personalised recommendations can help improve marketing strategies</a:t>
            </a:r>
          </a:p>
          <a:p>
            <a:pPr>
              <a:spcAft>
                <a:spcPts val="500"/>
              </a:spcAft>
              <a:defRPr sz="1500" b="0">
                <a:solidFill>
                  <a:srgbClr val="2D343C"/>
                </a:solidFill>
                <a:latin typeface="Aptos"/>
              </a:defRPr>
            </a:pPr>
            <a:r>
              <a:rPr lang="en-US" sz="1500" dirty="0">
                <a:solidFill>
                  <a:srgbClr val="2D343C"/>
                </a:solidFill>
                <a:latin typeface="Aptos"/>
              </a:rPr>
              <a:t>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1051560" y="5257800"/>
            <a:ext cx="10058400" cy="685800"/>
          </a:xfrm>
          <a:prstGeom prst="roundRect">
            <a:avLst/>
          </a:prstGeom>
          <a:solidFill>
            <a:srgbClr val="F7F9FB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51560" y="5257800"/>
            <a:ext cx="73152" cy="685800"/>
          </a:xfrm>
          <a:prstGeom prst="rect">
            <a:avLst/>
          </a:prstGeom>
          <a:solidFill>
            <a:srgbClr val="3E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39" y="5367528"/>
            <a:ext cx="973836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F3956"/>
                </a:solidFill>
                <a:latin typeface="Aptos"/>
              </a:defRPr>
            </a:pPr>
            <a:r>
              <a:t>Final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39" y="5696712"/>
            <a:ext cx="9738360" cy="24929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343C"/>
                </a:solidFill>
                <a:latin typeface="Aptos"/>
              </a:defRPr>
            </a:pPr>
            <a:r>
              <a:rPr lang="en-IN" sz="1200" b="1" dirty="0">
                <a:solidFill>
                  <a:srgbClr val="2D343C"/>
                </a:solidFill>
                <a:latin typeface="Aptos"/>
              </a:rPr>
              <a:t>Overall, this analysis provides useful insights into customer purchasing behaviour and supports data-driven marketing decisions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14400" y="2724912"/>
            <a:ext cx="10241280" cy="7315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3600" b="1">
                <a:solidFill>
                  <a:srgbClr val="1F3956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19272"/>
            <a:ext cx="8503920" cy="74430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2D343C"/>
                </a:solidFill>
                <a:latin typeface="Aptos"/>
              </a:defRPr>
            </a:pPr>
            <a:r>
              <a:rPr sz="2200" b="1" dirty="0">
                <a:solidFill>
                  <a:srgbClr val="3E8F91"/>
                </a:solidFill>
                <a:latin typeface="Aptos"/>
              </a:rPr>
              <a:t>Customer</a:t>
            </a:r>
            <a:r>
              <a:rPr dirty="0"/>
              <a:t> </a:t>
            </a:r>
            <a:r>
              <a:rPr sz="2200" b="1" dirty="0">
                <a:solidFill>
                  <a:srgbClr val="3E8F91"/>
                </a:solidFill>
                <a:latin typeface="Aptos"/>
              </a:rPr>
              <a:t>Segmentation</a:t>
            </a:r>
            <a:r>
              <a:rPr dirty="0"/>
              <a:t> </a:t>
            </a:r>
            <a:r>
              <a:rPr sz="2200" b="1" dirty="0">
                <a:solidFill>
                  <a:srgbClr val="3E8F91"/>
                </a:solidFill>
                <a:latin typeface="Aptos"/>
              </a:rPr>
              <a:t>Analysis</a:t>
            </a:r>
          </a:p>
          <a:p>
            <a:pPr algn="ctr">
              <a:spcAft>
                <a:spcPts val="500"/>
              </a:spcAft>
              <a:defRPr sz="1800" b="0">
                <a:solidFill>
                  <a:srgbClr val="2D343C"/>
                </a:solidFill>
                <a:latin typeface="Aptos"/>
              </a:defRPr>
            </a:pPr>
            <a:r>
              <a:rPr dirty="0"/>
              <a:t>CDACL-002 Internship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1412</Words>
  <Application>Microsoft Office PowerPoint</Application>
  <PresentationFormat>Widescreen</PresentationFormat>
  <Paragraphs>404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Rigzen Angmo</cp:lastModifiedBy>
  <cp:revision>3</cp:revision>
  <dcterms:created xsi:type="dcterms:W3CDTF">2013-01-27T09:14:16Z</dcterms:created>
  <dcterms:modified xsi:type="dcterms:W3CDTF">2026-10-23T11:40:12Z</dcterms:modified>
  <cp:category/>
</cp:coreProperties>
</file>